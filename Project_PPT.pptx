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kanshaadhalkar-a11y/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284854" y="3429000"/>
            <a:ext cx="9936117" cy="992555"/>
          </a:xfrm>
        </p:spPr>
        <p:txBody>
          <a:bodyPr vert="horz" lIns="91440" tIns="45720" rIns="91440" bIns="45720" rtlCol="0" anchor="t">
            <a:noAutofit/>
          </a:bodyPr>
          <a:lstStyle/>
          <a:p>
            <a:pPr algn="just"/>
            <a:r>
              <a:rPr lang="en-US" b="0" dirty="0">
                <a:solidFill>
                  <a:schemeClr val="tx1"/>
                </a:solidFill>
              </a:rPr>
              <a:t>Student Name:-Akansha Dnyanoba Adhalkar </a:t>
            </a:r>
            <a:endParaRPr lang="en-IN" b="0" dirty="0">
              <a:solidFill>
                <a:schemeClr val="tx1"/>
              </a:solidFill>
            </a:endParaRPr>
          </a:p>
          <a:p>
            <a:pPr algn="just"/>
            <a:r>
              <a:rPr lang="en-US" b="0" dirty="0">
                <a:solidFill>
                  <a:schemeClr val="tx1"/>
                </a:solidFill>
              </a:rPr>
              <a:t>College Name:- Matsyodari Shikshan Sanstha's</a:t>
            </a:r>
          </a:p>
          <a:p>
            <a:pPr algn="just"/>
            <a:r>
              <a:rPr lang="en-US" b="0" dirty="0">
                <a:solidFill>
                  <a:schemeClr val="tx1"/>
                </a:solidFill>
              </a:rPr>
              <a:t>College of Engineering and Technology, Jalna.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47667" y="2504628"/>
            <a:ext cx="9292216" cy="743448"/>
          </a:xfrm>
        </p:spPr>
        <p:txBody>
          <a:bodyPr>
            <a:noAutofit/>
          </a:bodyPr>
          <a:lstStyle/>
          <a:p>
            <a:r>
              <a:rPr lang="en-IN" sz="36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284854" y="4820019"/>
            <a:ext cx="6628382" cy="369332"/>
          </a:xfrm>
          <a:prstGeom prst="rect">
            <a:avLst/>
          </a:prstGeom>
          <a:noFill/>
        </p:spPr>
        <p:txBody>
          <a:bodyPr wrap="square" rtlCol="0">
            <a:spAutoFit/>
          </a:bodyPr>
          <a:lstStyle/>
          <a:p>
            <a:r>
              <a:rPr lang="en-US" b="1" dirty="0"/>
              <a:t>AICTE STU ID :- STU6a60e081616c91784733825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1" y="2102230"/>
            <a:ext cx="7736255" cy="3607987"/>
          </a:xfrm>
        </p:spPr>
        <p:txBody>
          <a:bodyPr vert="horz" lIns="91440" tIns="45720" rIns="91440" bIns="45720" rtlCol="0" anchor="t">
            <a:normAutofit fontScale="70000" lnSpcReduction="20000"/>
          </a:bodyPr>
          <a:lstStyle/>
          <a:p>
            <a:pPr marL="0" indent="0" algn="just">
              <a:lnSpc>
                <a:spcPct val="120000"/>
              </a:lnSpc>
              <a:buNone/>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C118120-2336-AEB3-81AA-87BA066C8EE4}"/>
              </a:ext>
            </a:extLst>
          </p:cNvPr>
          <p:cNvSpPr txBox="1"/>
          <p:nvPr/>
        </p:nvSpPr>
        <p:spPr>
          <a:xfrm>
            <a:off x="680110" y="1562076"/>
            <a:ext cx="8686800" cy="5396798"/>
          </a:xfrm>
          <a:prstGeom prst="rect">
            <a:avLst/>
          </a:prstGeom>
          <a:noFill/>
        </p:spPr>
        <p:txBody>
          <a:bodyPr wrap="square" rtlCol="0">
            <a:spAutoFit/>
          </a:bodyPr>
          <a:lstStyle/>
          <a:p>
            <a:pPr marL="285750" lvl="0" indent="-285750" algn="just">
              <a:lnSpc>
                <a:spcPct val="150000"/>
              </a:lnSpc>
              <a:buFont typeface="Wingdings" panose="05000000000000000000" pitchFamily="2" charset="2"/>
              <a:buChar char="§"/>
            </a:pPr>
            <a:r>
              <a:rPr lang="en-IN" sz="1600" dirty="0" err="1"/>
              <a:t>Analyzed</a:t>
            </a:r>
            <a:r>
              <a:rPr lang="en-IN" sz="1600" dirty="0"/>
              <a:t> a dataset containing </a:t>
            </a:r>
            <a:r>
              <a:rPr lang="en-IN" sz="1600" b="1" dirty="0"/>
              <a:t>4,000 agricultural records and 28 variables</a:t>
            </a:r>
            <a:r>
              <a:rPr lang="en-IN" sz="1600" dirty="0"/>
              <a:t>. </a:t>
            </a:r>
          </a:p>
          <a:p>
            <a:pPr marL="285750" lvl="0" indent="-285750" algn="just">
              <a:lnSpc>
                <a:spcPct val="150000"/>
              </a:lnSpc>
              <a:buFont typeface="Wingdings" panose="05000000000000000000" pitchFamily="2" charset="2"/>
              <a:buChar char="§"/>
            </a:pPr>
            <a:r>
              <a:rPr lang="en-IN" sz="1600" dirty="0"/>
              <a:t>Studied agricultural performance across </a:t>
            </a:r>
            <a:r>
              <a:rPr lang="en-IN" sz="1600" b="1" dirty="0"/>
              <a:t>different crops, seasons and farming conditions</a:t>
            </a:r>
            <a:r>
              <a:rPr lang="en-IN" sz="1600" dirty="0"/>
              <a:t>. </a:t>
            </a:r>
          </a:p>
          <a:p>
            <a:pPr marL="285750" lvl="0" indent="-285750" algn="just">
              <a:lnSpc>
                <a:spcPct val="150000"/>
              </a:lnSpc>
              <a:buFont typeface="Wingdings" panose="05000000000000000000" pitchFamily="2" charset="2"/>
              <a:buChar char="§"/>
            </a:pPr>
            <a:r>
              <a:rPr lang="en-IN" sz="1600" dirty="0"/>
              <a:t>Cleaned the dataset by handling </a:t>
            </a:r>
            <a:r>
              <a:rPr lang="en-IN" sz="1600" b="1" dirty="0"/>
              <a:t>missing values and duplicate records</a:t>
            </a:r>
            <a:r>
              <a:rPr lang="en-IN" sz="1600" dirty="0"/>
              <a:t>. </a:t>
            </a:r>
          </a:p>
          <a:p>
            <a:pPr marL="285750" lvl="0" indent="-285750" algn="just">
              <a:lnSpc>
                <a:spcPct val="150000"/>
              </a:lnSpc>
              <a:buFont typeface="Wingdings" panose="05000000000000000000" pitchFamily="2" charset="2"/>
              <a:buChar char="§"/>
            </a:pPr>
            <a:r>
              <a:rPr lang="en-IN" sz="1600" dirty="0"/>
              <a:t>Performed </a:t>
            </a:r>
            <a:r>
              <a:rPr lang="en-IN" sz="1600" b="1" dirty="0"/>
              <a:t>statistical and descriptive analysis</a:t>
            </a:r>
            <a:r>
              <a:rPr lang="en-IN" sz="1600" dirty="0"/>
              <a:t> of important variables. </a:t>
            </a:r>
          </a:p>
          <a:p>
            <a:pPr marL="285750" lvl="0" indent="-285750" algn="just">
              <a:lnSpc>
                <a:spcPct val="150000"/>
              </a:lnSpc>
              <a:buFont typeface="Wingdings" panose="05000000000000000000" pitchFamily="2" charset="2"/>
              <a:buChar char="§"/>
            </a:pPr>
            <a:r>
              <a:rPr lang="en-IN" sz="1600" dirty="0"/>
              <a:t>Used </a:t>
            </a:r>
            <a:r>
              <a:rPr lang="en-IN" sz="1600" b="1" dirty="0"/>
              <a:t>univariate, bivariate and multivariate analysis</a:t>
            </a:r>
            <a:r>
              <a:rPr lang="en-IN" sz="1600" dirty="0"/>
              <a:t> to identify patterns. </a:t>
            </a:r>
          </a:p>
          <a:p>
            <a:pPr marL="285750" lvl="0" indent="-285750" algn="just">
              <a:lnSpc>
                <a:spcPct val="150000"/>
              </a:lnSpc>
              <a:buFont typeface="Wingdings" panose="05000000000000000000" pitchFamily="2" charset="2"/>
              <a:buChar char="§"/>
            </a:pPr>
            <a:r>
              <a:rPr lang="en-IN" sz="1600" dirty="0" err="1"/>
              <a:t>Analyzed</a:t>
            </a:r>
            <a:r>
              <a:rPr lang="en-IN" sz="1600" dirty="0"/>
              <a:t> relationships between </a:t>
            </a:r>
            <a:r>
              <a:rPr lang="en-IN" sz="1600" b="1" dirty="0"/>
              <a:t>environmental factors and crop yield</a:t>
            </a:r>
            <a:r>
              <a:rPr lang="en-IN" sz="1600" dirty="0"/>
              <a:t>. </a:t>
            </a:r>
          </a:p>
          <a:p>
            <a:pPr marL="285750" lvl="0" indent="-285750" algn="just">
              <a:lnSpc>
                <a:spcPct val="150000"/>
              </a:lnSpc>
              <a:buFont typeface="Wingdings" panose="05000000000000000000" pitchFamily="2" charset="2"/>
              <a:buChar char="§"/>
            </a:pPr>
            <a:r>
              <a:rPr lang="en-IN" sz="1600" dirty="0"/>
              <a:t>Compared </a:t>
            </a:r>
            <a:r>
              <a:rPr lang="en-IN" sz="1600" b="1" dirty="0"/>
              <a:t>yield, production and profit across different seasons</a:t>
            </a:r>
            <a:r>
              <a:rPr lang="en-IN" sz="1600" dirty="0"/>
              <a:t>. </a:t>
            </a:r>
          </a:p>
          <a:p>
            <a:pPr marL="285750" lvl="0" indent="-285750" algn="just">
              <a:lnSpc>
                <a:spcPct val="150000"/>
              </a:lnSpc>
              <a:buFont typeface="Wingdings" panose="05000000000000000000" pitchFamily="2" charset="2"/>
              <a:buChar char="§"/>
            </a:pPr>
            <a:r>
              <a:rPr lang="en-IN" sz="1600" dirty="0" err="1"/>
              <a:t>Analyzed</a:t>
            </a:r>
            <a:r>
              <a:rPr lang="en-IN" sz="1600" dirty="0"/>
              <a:t> </a:t>
            </a:r>
            <a:r>
              <a:rPr lang="en-IN" sz="1600" b="1" dirty="0"/>
              <a:t>water efficiency for different irrigation methods</a:t>
            </a:r>
            <a:r>
              <a:rPr lang="en-IN" sz="1600" dirty="0"/>
              <a:t>. </a:t>
            </a:r>
          </a:p>
          <a:p>
            <a:pPr marL="285750" lvl="0" indent="-285750" algn="just">
              <a:lnSpc>
                <a:spcPct val="150000"/>
              </a:lnSpc>
              <a:buFont typeface="Wingdings" panose="05000000000000000000" pitchFamily="2" charset="2"/>
              <a:buChar char="§"/>
            </a:pPr>
            <a:r>
              <a:rPr lang="en-IN" sz="1600" dirty="0"/>
              <a:t>Compared the </a:t>
            </a:r>
            <a:r>
              <a:rPr lang="en-IN" sz="1600" b="1" dirty="0"/>
              <a:t>average yield of different crops</a:t>
            </a:r>
            <a:r>
              <a:rPr lang="en-IN" sz="1600" dirty="0"/>
              <a:t>. </a:t>
            </a:r>
          </a:p>
          <a:p>
            <a:pPr marL="285750" lvl="0" indent="-285750" algn="just">
              <a:lnSpc>
                <a:spcPct val="150000"/>
              </a:lnSpc>
              <a:buFont typeface="Wingdings" panose="05000000000000000000" pitchFamily="2" charset="2"/>
              <a:buChar char="§"/>
            </a:pPr>
            <a:r>
              <a:rPr lang="en-IN" sz="1600" dirty="0"/>
              <a:t>Used </a:t>
            </a:r>
            <a:r>
              <a:rPr lang="en-IN" sz="1600" b="1" dirty="0"/>
              <a:t>graphs and correlation analysis</a:t>
            </a:r>
            <a:r>
              <a:rPr lang="en-IN" sz="1600" dirty="0"/>
              <a:t> to present findings clearly. </a:t>
            </a:r>
          </a:p>
          <a:p>
            <a:pPr marL="285750" lvl="0" indent="-285750" algn="just">
              <a:lnSpc>
                <a:spcPct val="150000"/>
              </a:lnSpc>
              <a:buFont typeface="Wingdings" panose="05000000000000000000" pitchFamily="2" charset="2"/>
              <a:buChar char="§"/>
            </a:pPr>
            <a:r>
              <a:rPr lang="en-IN" sz="1600" dirty="0"/>
              <a:t>Identified important agricultural patterns and unusual outcomes. </a:t>
            </a:r>
          </a:p>
          <a:p>
            <a:pPr marL="285750" lvl="0" indent="-285750" algn="just">
              <a:lnSpc>
                <a:spcPct val="150000"/>
              </a:lnSpc>
              <a:buFont typeface="Wingdings" panose="05000000000000000000" pitchFamily="2" charset="2"/>
              <a:buChar char="§"/>
            </a:pPr>
            <a:r>
              <a:rPr lang="en-IN" sz="1600" dirty="0"/>
              <a:t>Provided </a:t>
            </a:r>
            <a:r>
              <a:rPr lang="en-IN" sz="1600" b="1" dirty="0"/>
              <a:t>data-driven recommendations</a:t>
            </a:r>
            <a:r>
              <a:rPr lang="en-IN" sz="1600" dirty="0"/>
              <a:t> for better seasonal planning and resource utilization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25000" lnSpcReduction="20000"/>
          </a:bodyPr>
          <a:lstStyle/>
          <a:p>
            <a:pPr lvl="0" algn="just">
              <a:lnSpc>
                <a:spcPct val="170000"/>
              </a:lnSpc>
            </a:pPr>
            <a:r>
              <a:rPr lang="en-IN" sz="6200" b="1" dirty="0"/>
              <a:t>Farmers</a:t>
            </a:r>
            <a:r>
              <a:rPr lang="en-IN" sz="6200" dirty="0"/>
              <a:t> – for better crop and seasonal planning. </a:t>
            </a:r>
          </a:p>
          <a:p>
            <a:pPr lvl="0" algn="just">
              <a:lnSpc>
                <a:spcPct val="170000"/>
              </a:lnSpc>
            </a:pPr>
            <a:r>
              <a:rPr lang="en-IN" sz="6200" b="1" dirty="0"/>
              <a:t>Agricultural Planners</a:t>
            </a:r>
            <a:r>
              <a:rPr lang="en-IN" sz="6200" dirty="0"/>
              <a:t> – for analyzing crop performance and resource usage. </a:t>
            </a:r>
          </a:p>
          <a:p>
            <a:pPr lvl="0" algn="just">
              <a:lnSpc>
                <a:spcPct val="170000"/>
              </a:lnSpc>
            </a:pPr>
            <a:r>
              <a:rPr lang="en-IN" sz="6200" b="1" dirty="0"/>
              <a:t>Government Agricultural Departments</a:t>
            </a:r>
            <a:r>
              <a:rPr lang="en-IN" sz="6200" dirty="0"/>
              <a:t> – for data-driven agricultural planning. </a:t>
            </a:r>
          </a:p>
          <a:p>
            <a:pPr lvl="0" algn="just">
              <a:lnSpc>
                <a:spcPct val="170000"/>
              </a:lnSpc>
            </a:pPr>
            <a:r>
              <a:rPr lang="en-IN" sz="6200" b="1" dirty="0"/>
              <a:t>Agricultural Researchers</a:t>
            </a:r>
            <a:r>
              <a:rPr lang="en-IN" sz="6200" dirty="0"/>
              <a:t> – for studying seasonal and crop-wise patterns. </a:t>
            </a:r>
          </a:p>
          <a:p>
            <a:pPr lvl="0" algn="just">
              <a:lnSpc>
                <a:spcPct val="170000"/>
              </a:lnSpc>
            </a:pPr>
            <a:r>
              <a:rPr lang="en-IN" sz="6200" b="1" dirty="0"/>
              <a:t>Farming Organizations</a:t>
            </a:r>
            <a:r>
              <a:rPr lang="en-IN" sz="6200" dirty="0"/>
              <a:t> – for improving resource utilization and profitability.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505093"/>
            <a:ext cx="9027702" cy="5243448"/>
          </a:xfrm>
        </p:spPr>
        <p:txBody>
          <a:bodyPr/>
          <a:lstStyle/>
          <a:p>
            <a:pPr lvl="0"/>
            <a:r>
              <a:rPr lang="en-IN" b="1" dirty="0"/>
              <a:t>Python</a:t>
            </a:r>
            <a:r>
              <a:rPr lang="en-IN" dirty="0"/>
              <a:t> – Main programming language </a:t>
            </a:r>
          </a:p>
          <a:p>
            <a:pPr lvl="0"/>
            <a:r>
              <a:rPr lang="en-IN" b="1" dirty="0"/>
              <a:t>Google Colab</a:t>
            </a:r>
            <a:r>
              <a:rPr lang="en-IN" dirty="0"/>
              <a:t> – Development and analysis platform </a:t>
            </a:r>
          </a:p>
          <a:p>
            <a:pPr lvl="0"/>
            <a:r>
              <a:rPr lang="en-IN" b="1" dirty="0"/>
              <a:t>Pandas</a:t>
            </a:r>
            <a:r>
              <a:rPr lang="en-IN" dirty="0"/>
              <a:t> – Data cleaning and analysis </a:t>
            </a:r>
          </a:p>
          <a:p>
            <a:pPr lvl="0"/>
            <a:r>
              <a:rPr lang="en-IN" b="1" dirty="0"/>
              <a:t>NumPy</a:t>
            </a:r>
            <a:r>
              <a:rPr lang="en-IN" dirty="0"/>
              <a:t> – Numerical operations </a:t>
            </a:r>
          </a:p>
          <a:p>
            <a:pPr lvl="0"/>
            <a:r>
              <a:rPr lang="en-IN" b="1" dirty="0"/>
              <a:t>Matplotlib</a:t>
            </a:r>
            <a:r>
              <a:rPr lang="en-IN" dirty="0"/>
              <a:t> – Data visualization </a:t>
            </a:r>
          </a:p>
          <a:p>
            <a:pPr lvl="0"/>
            <a:r>
              <a:rPr lang="en-IN" b="1" dirty="0"/>
              <a:t>Seaborn</a:t>
            </a:r>
            <a:r>
              <a:rPr lang="en-IN" dirty="0"/>
              <a:t> – Statistical graphs and visualizations </a:t>
            </a:r>
          </a:p>
          <a:p>
            <a:pPr lvl="0"/>
            <a:r>
              <a:rPr lang="en-IN" b="1" dirty="0"/>
              <a:t>CSV Dataset</a:t>
            </a:r>
            <a:r>
              <a:rPr lang="en-IN" dirty="0"/>
              <a:t> – Source of agricultural data</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6442722" cy="1208870"/>
          </a:xfrm>
        </p:spPr>
        <p:txBody>
          <a:bodyPr vert="horz" lIns="91440" tIns="45720" rIns="91440" bIns="45720" rtlCol="0" anchor="t">
            <a:normAutofit fontScale="25000" lnSpcReduction="20000"/>
          </a:bodyPr>
          <a:lstStyle/>
          <a:p>
            <a:pPr marL="0" indent="0">
              <a:buNone/>
            </a:pPr>
            <a:r>
              <a:rPr lang="en-IN" sz="8000" b="1" dirty="0"/>
              <a:t>Dataset Overview</a:t>
            </a:r>
            <a:endParaRPr lang="en-IN" sz="8000" dirty="0"/>
          </a:p>
          <a:p>
            <a:pPr lvl="0"/>
            <a:r>
              <a:rPr lang="en-IN" sz="8000" dirty="0"/>
              <a:t>Screenshot showing </a:t>
            </a:r>
            <a:r>
              <a:rPr lang="en-IN" sz="8000" dirty="0" err="1"/>
              <a:t>df.shape</a:t>
            </a:r>
            <a:r>
              <a:rPr lang="en-IN" sz="8000" dirty="0"/>
              <a:t> / df.info() </a:t>
            </a:r>
          </a:p>
          <a:p>
            <a:pPr lvl="0"/>
            <a:r>
              <a:rPr lang="en-IN" sz="8000" dirty="0"/>
              <a:t>Shows </a:t>
            </a:r>
            <a:r>
              <a:rPr lang="en-IN" sz="8000" b="1" dirty="0"/>
              <a:t>4,000 records and 28 columns</a:t>
            </a:r>
            <a:r>
              <a:rPr lang="en-IN" sz="8000" dirty="0"/>
              <a:t> </a:t>
            </a:r>
          </a:p>
          <a:p>
            <a:pPr marL="0" indent="0">
              <a:buNone/>
            </a:pPr>
            <a:endParaRPr lang="en-IN" dirty="0"/>
          </a:p>
        </p:txBody>
      </p:sp>
      <p:pic>
        <p:nvPicPr>
          <p:cNvPr id="6" name="Picture 5">
            <a:extLst>
              <a:ext uri="{FF2B5EF4-FFF2-40B4-BE49-F238E27FC236}">
                <a16:creationId xmlns:a16="http://schemas.microsoft.com/office/drawing/2014/main" id="{C1E9B0D8-CC24-34CA-0B9C-E90395103A93}"/>
              </a:ext>
            </a:extLst>
          </p:cNvPr>
          <p:cNvPicPr>
            <a:picLocks noChangeAspect="1"/>
          </p:cNvPicPr>
          <p:nvPr/>
        </p:nvPicPr>
        <p:blipFill>
          <a:blip r:embed="rId3"/>
          <a:stretch>
            <a:fillRect/>
          </a:stretch>
        </p:blipFill>
        <p:spPr>
          <a:xfrm>
            <a:off x="1264364" y="2528596"/>
            <a:ext cx="7161179" cy="36366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2433" y="1201586"/>
            <a:ext cx="7631720" cy="1171548"/>
          </a:xfrm>
        </p:spPr>
        <p:txBody>
          <a:bodyPr>
            <a:normAutofit fontScale="40000" lnSpcReduction="20000"/>
          </a:bodyPr>
          <a:lstStyle/>
          <a:p>
            <a:pPr marL="0" indent="0" algn="just">
              <a:buNone/>
            </a:pPr>
            <a:r>
              <a:rPr lang="en-IN" sz="5000" b="1" dirty="0"/>
              <a:t>Average Yield by Crop</a:t>
            </a:r>
            <a:endParaRPr lang="en-IN" sz="5000" dirty="0"/>
          </a:p>
          <a:p>
            <a:pPr lvl="0" algn="just"/>
            <a:r>
              <a:rPr lang="en-IN" sz="5000" dirty="0"/>
              <a:t>Screenshot of your </a:t>
            </a:r>
            <a:r>
              <a:rPr lang="en-IN" sz="5000" b="1" dirty="0"/>
              <a:t>Average Yield by Crop</a:t>
            </a:r>
            <a:r>
              <a:rPr lang="en-IN" sz="5000" dirty="0"/>
              <a:t> bar graph. </a:t>
            </a:r>
          </a:p>
          <a:p>
            <a:pPr lvl="0" algn="just"/>
            <a:r>
              <a:rPr lang="en-IN" sz="5000" dirty="0"/>
              <a:t>Shows Sugarcane as the highest-yielding crop.</a:t>
            </a:r>
          </a:p>
          <a:p>
            <a:pPr marL="0" indent="0">
              <a:buNone/>
            </a:pPr>
            <a:endParaRPr lang="en-IN" dirty="0"/>
          </a:p>
        </p:txBody>
      </p:sp>
      <p:pic>
        <p:nvPicPr>
          <p:cNvPr id="3" name="Picture 2">
            <a:extLst>
              <a:ext uri="{FF2B5EF4-FFF2-40B4-BE49-F238E27FC236}">
                <a16:creationId xmlns:a16="http://schemas.microsoft.com/office/drawing/2014/main" id="{AB7A6381-7548-26CB-8B7D-A12FBA75C8A2}"/>
              </a:ext>
            </a:extLst>
          </p:cNvPr>
          <p:cNvPicPr>
            <a:picLocks noChangeAspect="1"/>
          </p:cNvPicPr>
          <p:nvPr/>
        </p:nvPicPr>
        <p:blipFill>
          <a:blip r:embed="rId3"/>
          <a:stretch>
            <a:fillRect/>
          </a:stretch>
        </p:blipFill>
        <p:spPr>
          <a:xfrm>
            <a:off x="1287624" y="2373134"/>
            <a:ext cx="7022329" cy="36671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187555"/>
            <a:ext cx="8224869" cy="477520"/>
          </a:xfrm>
        </p:spPr>
        <p:txBody>
          <a:bodyPr>
            <a:normAutofit fontScale="25000" lnSpcReduction="20000"/>
          </a:bodyPr>
          <a:lstStyle/>
          <a:p>
            <a:pPr marL="0" indent="0">
              <a:buNone/>
            </a:pPr>
            <a:r>
              <a:rPr lang="en-IN" sz="8000" b="1" dirty="0"/>
              <a:t>Water Efficiency by Irrigation Method</a:t>
            </a:r>
            <a:endParaRPr lang="en-IN" sz="8000" dirty="0"/>
          </a:p>
          <a:p>
            <a:pPr lvl="0"/>
            <a:r>
              <a:rPr lang="en-IN" sz="8000" dirty="0"/>
              <a:t>Screenshot of the </a:t>
            </a:r>
            <a:r>
              <a:rPr lang="en-IN" sz="8000" b="1" dirty="0"/>
              <a:t>Water Efficiency by Irrigation Method</a:t>
            </a:r>
            <a:r>
              <a:rPr lang="en-IN" sz="8000" dirty="0"/>
              <a:t> graph. </a:t>
            </a:r>
          </a:p>
          <a:p>
            <a:pPr lvl="0"/>
            <a:r>
              <a:rPr lang="en-IN" sz="8000" dirty="0"/>
              <a:t>Shows Rainfed with the highest average water efficiency.</a:t>
            </a:r>
          </a:p>
          <a:p>
            <a:pPr marL="0" indent="0">
              <a:buNone/>
            </a:pPr>
            <a:endParaRPr lang="en-IN" dirty="0"/>
          </a:p>
        </p:txBody>
      </p:sp>
      <p:pic>
        <p:nvPicPr>
          <p:cNvPr id="3" name="Picture 2">
            <a:extLst>
              <a:ext uri="{FF2B5EF4-FFF2-40B4-BE49-F238E27FC236}">
                <a16:creationId xmlns:a16="http://schemas.microsoft.com/office/drawing/2014/main" id="{CDE474F4-899D-1FD2-4614-0AA971B94A3A}"/>
              </a:ext>
            </a:extLst>
          </p:cNvPr>
          <p:cNvPicPr>
            <a:picLocks noChangeAspect="1"/>
          </p:cNvPicPr>
          <p:nvPr/>
        </p:nvPicPr>
        <p:blipFill>
          <a:blip r:embed="rId3"/>
          <a:stretch>
            <a:fillRect/>
          </a:stretch>
        </p:blipFill>
        <p:spPr>
          <a:xfrm>
            <a:off x="1026016" y="2395808"/>
            <a:ext cx="7298834" cy="37997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201586"/>
            <a:ext cx="8784511" cy="477520"/>
          </a:xfrm>
        </p:spPr>
        <p:txBody>
          <a:bodyPr>
            <a:normAutofit fontScale="25000" lnSpcReduction="20000"/>
          </a:bodyPr>
          <a:lstStyle/>
          <a:p>
            <a:pPr marL="0" indent="0">
              <a:buNone/>
            </a:pPr>
            <a:r>
              <a:rPr lang="en-IN" sz="8000" b="1" dirty="0"/>
              <a:t>Average Profit by Season</a:t>
            </a:r>
            <a:endParaRPr lang="en-IN" sz="8000" dirty="0"/>
          </a:p>
          <a:p>
            <a:pPr lvl="0"/>
            <a:r>
              <a:rPr lang="en-IN" sz="8000" dirty="0"/>
              <a:t>Screenshot of the </a:t>
            </a:r>
            <a:r>
              <a:rPr lang="en-IN" sz="8000" b="1" dirty="0"/>
              <a:t>Average Profit by Season</a:t>
            </a:r>
            <a:r>
              <a:rPr lang="en-IN" sz="8000" dirty="0"/>
              <a:t> graph. </a:t>
            </a:r>
          </a:p>
          <a:p>
            <a:pPr lvl="0"/>
            <a:r>
              <a:rPr lang="en-IN" sz="8000" dirty="0"/>
              <a:t>Shows Kharif with the highest average profit and Zaid with negative average profit. </a:t>
            </a:r>
          </a:p>
          <a:p>
            <a:pPr marL="0" indent="0">
              <a:buNone/>
            </a:pPr>
            <a:endParaRPr lang="en-IN" dirty="0"/>
          </a:p>
        </p:txBody>
      </p:sp>
      <p:pic>
        <p:nvPicPr>
          <p:cNvPr id="6" name="Picture 5">
            <a:extLst>
              <a:ext uri="{FF2B5EF4-FFF2-40B4-BE49-F238E27FC236}">
                <a16:creationId xmlns:a16="http://schemas.microsoft.com/office/drawing/2014/main" id="{0FC1E78B-3F59-5A72-6FC8-53B40A2EBF0A}"/>
              </a:ext>
            </a:extLst>
          </p:cNvPr>
          <p:cNvPicPr>
            <a:picLocks noChangeAspect="1"/>
          </p:cNvPicPr>
          <p:nvPr/>
        </p:nvPicPr>
        <p:blipFill>
          <a:blip r:embed="rId3"/>
          <a:stretch>
            <a:fillRect/>
          </a:stretch>
        </p:blipFill>
        <p:spPr>
          <a:xfrm>
            <a:off x="1159908" y="2659393"/>
            <a:ext cx="7424255" cy="33527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04455" y="1313375"/>
            <a:ext cx="7282477" cy="477520"/>
          </a:xfrm>
        </p:spPr>
        <p:txBody>
          <a:bodyPr>
            <a:normAutofit fontScale="25000" lnSpcReduction="20000"/>
          </a:bodyPr>
          <a:lstStyle/>
          <a:p>
            <a:pPr marL="0" indent="0">
              <a:buNone/>
            </a:pPr>
            <a:r>
              <a:rPr lang="en-IN" sz="8000" b="1" dirty="0"/>
              <a:t>Average Yield by Season</a:t>
            </a:r>
            <a:endParaRPr lang="en-IN" sz="8000" dirty="0"/>
          </a:p>
          <a:p>
            <a:pPr lvl="0"/>
            <a:r>
              <a:rPr lang="en-IN" sz="8000" dirty="0"/>
              <a:t>Screenshot of the </a:t>
            </a:r>
            <a:r>
              <a:rPr lang="en-IN" sz="8000" b="1" dirty="0"/>
              <a:t>Average Yield by Season</a:t>
            </a:r>
            <a:r>
              <a:rPr lang="en-IN" sz="8000" dirty="0"/>
              <a:t> graph. </a:t>
            </a:r>
          </a:p>
          <a:p>
            <a:pPr lvl="0"/>
            <a:r>
              <a:rPr lang="en-IN" sz="8000" dirty="0"/>
              <a:t>Shows Kharif, Rabi and Zaid comparison.</a:t>
            </a:r>
          </a:p>
          <a:p>
            <a:pPr marL="0" indent="0">
              <a:buNone/>
            </a:pPr>
            <a:endParaRPr lang="en-IN" dirty="0"/>
          </a:p>
        </p:txBody>
      </p:sp>
      <p:pic>
        <p:nvPicPr>
          <p:cNvPr id="12" name="Picture 11">
            <a:extLst>
              <a:ext uri="{FF2B5EF4-FFF2-40B4-BE49-F238E27FC236}">
                <a16:creationId xmlns:a16="http://schemas.microsoft.com/office/drawing/2014/main" id="{D0A9F7E8-6A86-5430-76C6-40582095410E}"/>
              </a:ext>
            </a:extLst>
          </p:cNvPr>
          <p:cNvPicPr>
            <a:picLocks noChangeAspect="1"/>
          </p:cNvPicPr>
          <p:nvPr/>
        </p:nvPicPr>
        <p:blipFill>
          <a:blip r:embed="rId3"/>
          <a:stretch>
            <a:fillRect/>
          </a:stretch>
        </p:blipFill>
        <p:spPr>
          <a:xfrm>
            <a:off x="1121966" y="2508618"/>
            <a:ext cx="7116965" cy="37487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2007E7D-D822-CD2C-8280-361FA436E452}"/>
              </a:ext>
            </a:extLst>
          </p:cNvPr>
          <p:cNvSpPr txBox="1"/>
          <p:nvPr/>
        </p:nvSpPr>
        <p:spPr>
          <a:xfrm>
            <a:off x="793102" y="1515104"/>
            <a:ext cx="7943200" cy="2949975"/>
          </a:xfrm>
          <a:prstGeom prst="rect">
            <a:avLst/>
          </a:prstGeom>
          <a:noFill/>
        </p:spPr>
        <p:txBody>
          <a:bodyPr wrap="none" rtlCol="0">
            <a:spAutoFit/>
          </a:bodyPr>
          <a:lstStyle/>
          <a:p>
            <a:pPr marL="342900" lvl="0" indent="-342900" algn="just">
              <a:lnSpc>
                <a:spcPct val="150000"/>
              </a:lnSpc>
              <a:buFont typeface="Arial" panose="020B0604020202020204" pitchFamily="34" charset="0"/>
              <a:buChar char="•"/>
            </a:pPr>
            <a:r>
              <a:rPr lang="en-US" dirty="0"/>
              <a:t>Predict crop yield using Machine Learning techniques. </a:t>
            </a:r>
          </a:p>
          <a:p>
            <a:pPr marL="342900" lvl="0" indent="-342900" algn="just">
              <a:lnSpc>
                <a:spcPct val="150000"/>
              </a:lnSpc>
              <a:buFont typeface="Arial" panose="020B0604020202020204" pitchFamily="34" charset="0"/>
              <a:buChar char="•"/>
            </a:pPr>
            <a:r>
              <a:rPr lang="en-US" dirty="0"/>
              <a:t>Include real-time weather data for better analysis. </a:t>
            </a:r>
          </a:p>
          <a:p>
            <a:pPr marL="342900" lvl="0" indent="-342900" algn="just">
              <a:lnSpc>
                <a:spcPct val="150000"/>
              </a:lnSpc>
              <a:buFont typeface="Arial" panose="020B0604020202020204" pitchFamily="34" charset="0"/>
              <a:buChar char="•"/>
            </a:pPr>
            <a:r>
              <a:rPr lang="en-US" dirty="0"/>
              <a:t>Add real-time market prices to improve profit estimation. </a:t>
            </a:r>
          </a:p>
          <a:p>
            <a:pPr marL="342900" lvl="0" indent="-342900" algn="just">
              <a:lnSpc>
                <a:spcPct val="150000"/>
              </a:lnSpc>
              <a:buFont typeface="Arial" panose="020B0604020202020204" pitchFamily="34" charset="0"/>
              <a:buChar char="•"/>
            </a:pPr>
            <a:r>
              <a:rPr lang="en-US" dirty="0"/>
              <a:t>Develop a crop recommendation system based on farming conditions. </a:t>
            </a:r>
          </a:p>
          <a:p>
            <a:pPr marL="342900" lvl="0" indent="-342900" algn="just">
              <a:lnSpc>
                <a:spcPct val="150000"/>
              </a:lnSpc>
              <a:buFont typeface="Arial" panose="020B0604020202020204" pitchFamily="34" charset="0"/>
              <a:buChar char="•"/>
            </a:pPr>
            <a:r>
              <a:rPr lang="en-US" dirty="0"/>
              <a:t>Build an interactive dashboard for farmers and agricultural planners. </a:t>
            </a:r>
          </a:p>
          <a:p>
            <a:pPr marL="342900" lvl="0" indent="-342900" algn="just">
              <a:lnSpc>
                <a:spcPct val="150000"/>
              </a:lnSpc>
              <a:buFont typeface="Arial" panose="020B0604020202020204" pitchFamily="34" charset="0"/>
              <a:buChar char="•"/>
            </a:pPr>
            <a:r>
              <a:rPr lang="en-US" dirty="0"/>
              <a:t>Extend the analysis with larger and multi-year datasets. </a:t>
            </a:r>
          </a:p>
          <a:p>
            <a:pPr marL="342900" lvl="0" indent="-342900" algn="just">
              <a:lnSpc>
                <a:spcPct val="150000"/>
              </a:lnSpc>
              <a:buFont typeface="Arial" panose="020B0604020202020204" pitchFamily="34" charset="0"/>
              <a:buChar char="•"/>
            </a:pPr>
            <a:r>
              <a:rPr lang="en-US" dirty="0"/>
              <a:t>Add regional-level analysis to provide more specific recommendations.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86EA808-CE92-DDEC-DA3B-FDE94817E1B1}"/>
              </a:ext>
            </a:extLst>
          </p:cNvPr>
          <p:cNvSpPr txBox="1"/>
          <p:nvPr/>
        </p:nvSpPr>
        <p:spPr>
          <a:xfrm>
            <a:off x="890561" y="2283694"/>
            <a:ext cx="7468100" cy="707886"/>
          </a:xfrm>
          <a:prstGeom prst="rect">
            <a:avLst/>
          </a:prstGeom>
          <a:noFill/>
        </p:spPr>
        <p:txBody>
          <a:bodyPr wrap="square" rtlCol="0">
            <a:spAutoFit/>
          </a:bodyPr>
          <a:lstStyle/>
          <a:p>
            <a:r>
              <a:rPr lang="en-IN" sz="2000" dirty="0">
                <a:hlinkClick r:id="rId3"/>
              </a:rPr>
              <a:t>🌐 https://github.com/akanshaadhalkar-a11y/Seasonal-Agriculture-Performance-Analysis</a:t>
            </a:r>
            <a:r>
              <a:rPr lang="en-IN" sz="2000" dirty="0"/>
              <a:t> </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C0FE36E-5EAD-9C0D-7825-5241AF8508F7}"/>
              </a:ext>
            </a:extLst>
          </p:cNvPr>
          <p:cNvPicPr>
            <a:picLocks noChangeAspect="1"/>
          </p:cNvPicPr>
          <p:nvPr/>
        </p:nvPicPr>
        <p:blipFill>
          <a:blip r:embed="rId3"/>
          <a:stretch>
            <a:fillRect/>
          </a:stretch>
        </p:blipFill>
        <p:spPr>
          <a:xfrm>
            <a:off x="1231641" y="1608410"/>
            <a:ext cx="7445830" cy="4279226"/>
          </a:xfrm>
          <a:prstGeom prst="rect">
            <a:avLst/>
          </a:prstGeom>
          <a:ln>
            <a:noFill/>
          </a:ln>
          <a:effectLst>
            <a:softEdge rad="112500"/>
          </a:effectLst>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365288" y="2807711"/>
            <a:ext cx="5870407" cy="1721497"/>
          </a:xfrm>
        </p:spPr>
        <p:txBody>
          <a:bodyPr>
            <a:noAutofit/>
          </a:bodyPr>
          <a:lstStyle/>
          <a:p>
            <a:r>
              <a:rPr lang="en-IN" sz="6000" dirty="0"/>
              <a:t>Thank you </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624</TotalTime>
  <Words>547</Words>
  <Application>Microsoft Office PowerPoint</Application>
  <PresentationFormat>Widescreen</PresentationFormat>
  <Paragraphs>69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akanshaadhalkar@gmail.com</cp:lastModifiedBy>
  <cp:revision>104</cp:revision>
  <dcterms:created xsi:type="dcterms:W3CDTF">2021-07-11T13:13:15Z</dcterms:created>
  <dcterms:modified xsi:type="dcterms:W3CDTF">2026-09-06T07:59:37Z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